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Gestión y Normatividad Minera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Resolución 759 de 2024, Requerimientos FBM y Ley 685 de 2001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Resolución 759 del 28 de octubre de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Implementación de la Plataforma de Trazabilidad de Minerales (PTM)</a:t>
            </a:r>
          </a:p>
          <a:p>
            <a:pPr lvl="1"/>
            <a:r>
              <a:t>Objetivo: Verificación en tiempo real de la procedencia lícita de minerales.</a:t>
            </a:r>
          </a:p>
          <a:p>
            <a:pPr lvl="1"/>
            <a:r>
              <a:t>Transparencia: Control de saldos para explotadores y comercializadores.</a:t>
            </a:r>
          </a:p>
          <a:p>
            <a:pPr lvl="1"/>
            <a:r>
              <a:t>Obligatoriedad: Registro obligatorio de transacciones vía OTTM.</a:t>
            </a:r>
          </a:p>
          <a:p>
            <a:pPr lvl="1"/>
            <a:r>
              <a:t>Integración: Sincronización con AnnA Minería y RUCOM.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Estadísticas de Requerimientos Mineros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Predominancia de Respuesta a Requerimientos FBM</a:t>
            </a:r>
          </a:p>
          <a:p>
            <a:pPr lvl="1"/>
            <a:r>
              <a:t>Año 2024: El FBM representó el 44% de los requerimientos.</a:t>
            </a:r>
          </a:p>
          <a:p>
            <a:pPr lvl="1"/>
            <a:r>
              <a:t>Año 2025: El FBM representa el 33% de la participación.</a:t>
            </a:r>
          </a:p>
          <a:p>
            <a:pPr lvl="1"/>
            <a:r>
              <a:t>Conclusión: El cumplimiento del Formato Básico Minero es la principal carga administrativa.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Ley 685 de 2001: Régimen de Transición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Artículos 348 a 351: Seguridad Jurídica</a:t>
            </a:r>
          </a:p>
          <a:p>
            <a:pPr lvl="1"/>
            <a:r>
              <a:t>Art. 348: Respeto a la validez de títulos anteriores (D 2655 de 1988).</a:t>
            </a:r>
          </a:p>
          <a:p>
            <a:pPr lvl="1"/>
            <a:r>
              <a:t>Art. 350: Continuidad de condiciones y términos del régimen anterior.</a:t>
            </a:r>
          </a:p>
          <a:p>
            <a:pPr lvl="1"/>
            <a:r>
              <a:t>Derechos Adquiridos: Los títulos perfeccionados mantienen sus obligaciones originales.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Inventario de Títulos Mineros (Parte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6270">
                <a:tc>
                  <a:txBody>
                    <a:bodyPr/>
                    <a:lstStyle/>
                    <a:p>
                      <a:r>
                        <a:t>Placa Título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Tipo de Título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Régimen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5981 (EFLK-01)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T10862011 (FEFO-01)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C3924011 (EAVB-01)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T7763011 (EILE-01)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T11399011 (FFPE-03)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C11414B011 (FFRI-01)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Por definir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Por definir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C11417011 (FFSA-01)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 2655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11414A 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Por definir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Por definir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ICT-16151 (ICT-16151)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H766B005 (CFWB-02)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T663005 (GCNM-06)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Licencia de Explotación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 2655</a:t>
                      </a:r>
                    </a:p>
                  </a:txBody>
                  <a:tcPr/>
                </a:tc>
              </a:tr>
              <a:tr h="56280">
                <a:tc>
                  <a:txBody>
                    <a:bodyPr/>
                    <a:lstStyle/>
                    <a:p>
                      <a:r>
                        <a:rPr sz="1000"/>
                        <a:t>4405 (ECGD-01)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Inventario de Títulos Mineros (Parte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6270">
                <a:tc>
                  <a:txBody>
                    <a:bodyPr/>
                    <a:lstStyle/>
                    <a:p>
                      <a:r>
                        <a:t>Placa Título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Tipo de Título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Régimen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T4925005 (HCIJ-10)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C4452011 (ECKH-01)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FLD-157 (FLD-157)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JAE-11231 (JAE-11231)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00033-15 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8960 (FAIN-01)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14585 (GAL-01)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15929 (GCAO-04)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00141-15 (GFXE-04)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Licencia de Explotación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 2655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LJ7-09361 (LJ7-09361)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70">
                <a:tc>
                  <a:txBody>
                    <a:bodyPr/>
                    <a:lstStyle/>
                    <a:p>
                      <a:r>
                        <a:rPr sz="1000"/>
                        <a:t>00918-15 (ADD-161)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56280">
                <a:tc>
                  <a:txBody>
                    <a:bodyPr/>
                    <a:lstStyle/>
                    <a:p>
                      <a:r>
                        <a:rPr sz="1000"/>
                        <a:t>00988-15 (HFVJ-08)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Inventario de Títulos Mineros (Parte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6501">
                <a:tc>
                  <a:txBody>
                    <a:bodyPr/>
                    <a:lstStyle/>
                    <a:p>
                      <a:r>
                        <a:t>Placa Título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Tipo de Título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Régimen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r>
                        <a:rPr sz="1000"/>
                        <a:t>IJ5-08181 (IJ5-08181)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r>
                        <a:rPr sz="1000"/>
                        <a:t>3450 (DJLF-01)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r>
                        <a:rPr sz="1000"/>
                        <a:t>13549 (FIOI-02)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r>
                        <a:rPr sz="1000"/>
                        <a:t>22212 (GIKC-01)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r>
                        <a:rPr sz="1000"/>
                        <a:t>3871 (EARJ-01)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r>
                        <a:rPr sz="1000"/>
                        <a:t>9098 (FANO-01)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r>
                        <a:rPr sz="1000"/>
                        <a:t>EJ3-101 (EJ3-101)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 2655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r>
                        <a:rPr sz="1000"/>
                        <a:t>13101 (FJKB-01)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r>
                        <a:rPr sz="1000"/>
                        <a:t>1995 (DEDJ-01)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 685</a:t>
                      </a:r>
                    </a:p>
                  </a:txBody>
                  <a:tcPr/>
                </a:tc>
              </a:tr>
              <a:tr h="66510">
                <a:tc>
                  <a:txBody>
                    <a:bodyPr/>
                    <a:lstStyle/>
                    <a:p>
                      <a:r>
                        <a:rPr sz="1000"/>
                        <a:t>1871 (DDTK-01)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Contrato de Concesión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 2655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